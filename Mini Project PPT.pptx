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80" r:id="rId2"/>
    <p:sldId id="257" r:id="rId3"/>
    <p:sldId id="272" r:id="rId4"/>
    <p:sldId id="261" r:id="rId5"/>
    <p:sldId id="259" r:id="rId6"/>
    <p:sldId id="256" r:id="rId7"/>
    <p:sldId id="262" r:id="rId8"/>
    <p:sldId id="273" r:id="rId9"/>
    <p:sldId id="274" r:id="rId10"/>
    <p:sldId id="271" r:id="rId11"/>
    <p:sldId id="279" r:id="rId12"/>
    <p:sldId id="276" r:id="rId13"/>
    <p:sldId id="277" r:id="rId14"/>
    <p:sldId id="281" r:id="rId15"/>
    <p:sldId id="282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6" autoAdjust="0"/>
    <p:restoredTop sz="94690" autoAdjust="0"/>
  </p:normalViewPr>
  <p:slideViewPr>
    <p:cSldViewPr snapToGrid="0">
      <p:cViewPr varScale="1">
        <p:scale>
          <a:sx n="77" d="100"/>
          <a:sy n="77" d="100"/>
        </p:scale>
        <p:origin x="1200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5C97-5148-5442-8F94-C2E8C673C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AE356-B7F8-9DFE-895A-A4E29B73A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E47D0-05C9-6813-812F-638ED72B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6A3CE-DD5D-C5E2-891B-718F31522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14AF3-C981-5506-823D-F09725F1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11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D705-E3A2-96E9-A85F-A475B0D1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FC29F-1F20-8ACB-C99B-6B66EFA87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0913C-81AD-F68C-FA22-732554EC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E8BE7-7A09-2B11-707F-1298FBCA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18B26-8CBC-A035-FFDE-82C58E13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1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2F29-7EAA-C9FE-5BE9-6D83B90F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B8A6E-7A2C-08A6-B5D9-030387DD9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8060F-A4AC-DB8E-8279-1D19720F7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C926F-1ECB-94AE-4ACA-4FD4ED5C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512E9-58F6-6C47-38DE-B0830754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2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9A66-4CAF-32C5-DDD4-87F9D958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30B6-E7A6-AA7B-6034-6482C81F3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D2AFC-59FA-64AF-7170-C2CFE9276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A5895-B222-3D98-33BF-C487A9B2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4ED47-40EA-C5BA-6E61-41229923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E586E-C5A2-6FE0-9E5B-D81AE591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3B35-5474-FA26-205C-06BC853E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D5DC8-2705-8F21-CD0F-CB4981378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40BE3-0D22-B935-1FF4-32D2457BE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C92A4-8EA8-EDD1-E8C0-ED29D8633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88531-0245-A199-2B62-0C3F23D74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66A69-26DB-FEE5-316A-CAEE1706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1F3C15-CE64-3F4C-0A75-A226D735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0B1C-9163-BF51-C7AA-C0A7AF66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3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6C43-C5C1-DF73-1E3B-8B07C44B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695934-2A32-0FCE-DF3B-234880CE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26B82-49B8-2702-B3C1-388A5454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344C6-05B9-E407-B6FB-05DBD16D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39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C696E-421C-AE11-E265-D56A9EBF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A1C15-A7B0-A3A5-47E8-A6F4D5E4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1F359-E846-88D6-AF68-039FD1E9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9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3D61-E244-EDC8-DBCA-5BDD6C58B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13B70-719F-3B10-0857-3D5EC9C70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29B7E-0931-3162-0097-2F92F7E9E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6C3D2-64F4-7CDB-620F-25AE8B88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898D8-D9C9-0DB1-C451-8388A480E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38588-BA53-30D8-8168-EC558A1D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8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0578-B46A-0BB0-F9CF-BA668C9F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D0D678-A733-E755-3D0C-7FC8C318F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D76F8-665F-1134-925A-FA821DB3C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BA823-5F05-2EBF-6D02-DA382F16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D10AF-065E-4BF9-5487-137F09E3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8EDE0-B411-3399-4202-E51D906F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7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50CB-44D8-307A-1CB3-9F322412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5B4C6-B477-15D7-4E3E-428E9F629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13D74-F0FD-AD16-6CF7-6CE7F488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24D15-AABC-C961-9C18-8946803D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DCB41-F8D4-DA37-6901-46AD4A6F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2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FA8DD-AF66-1364-55C5-0878932D4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77325-5085-0AFB-EDAE-269A59AFD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B37C5-A000-C8F8-74AA-C0E0E494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8F54-EC4F-8423-5B81-DF3DAD04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427DA-80C1-D103-DCAF-D32DD476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1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accent6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A7A42-1262-A030-E53B-0F0E2D752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A32A4-6A67-ABD7-D9A9-727AB29AB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C7E68-36A5-7904-4C4E-8632EBBDB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330D1-433F-4854-B981-FF27019CCCFD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AD2B1-73E4-A80C-810A-3A6899536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CA0A0-BD15-746C-E382-3433BC712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249C4-3C80-4833-8495-57991DCA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venanalytics.io/data-playground/mexico-toy-sales" TargetMode="Externa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930DD9-0404-F88E-6A9F-E711C65D0327}"/>
              </a:ext>
            </a:extLst>
          </p:cNvPr>
          <p:cNvSpPr/>
          <p:nvPr/>
        </p:nvSpPr>
        <p:spPr>
          <a:xfrm>
            <a:off x="979029" y="844826"/>
            <a:ext cx="10233941" cy="1689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effectLst>
                  <a:glow rad="139700">
                    <a:schemeClr val="accent4">
                      <a:lumMod val="60000"/>
                      <a:lumOff val="40000"/>
                      <a:alpha val="40000"/>
                    </a:schemeClr>
                  </a:glo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Mexico TOY Sales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074407-D79A-B586-9903-0E56CDB25A2A}"/>
              </a:ext>
            </a:extLst>
          </p:cNvPr>
          <p:cNvSpPr txBox="1"/>
          <p:nvPr/>
        </p:nvSpPr>
        <p:spPr>
          <a:xfrm>
            <a:off x="763657" y="3429000"/>
            <a:ext cx="9950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dk1"/>
                </a:solidFill>
                <a:effectLst>
                  <a:glow rad="139700">
                    <a:schemeClr val="accent4">
                      <a:lumMod val="60000"/>
                      <a:lumOff val="40000"/>
                      <a:alpha val="40000"/>
                    </a:schemeClr>
                  </a:glow>
                </a:effectLst>
                <a:latin typeface="Segoe UI Emoji" panose="020B0502040204020203" pitchFamily="34" charset="0"/>
                <a:ea typeface="Segoe UI Emoji" panose="020B0502040204020203" pitchFamily="34" charset="0"/>
              </a:rPr>
              <a:t>Analysis of Maven Toys (Mexico) sales &amp; inventory data</a:t>
            </a:r>
          </a:p>
          <a:p>
            <a:endParaRPr lang="en-US" sz="2400" b="1" dirty="0">
              <a:solidFill>
                <a:schemeClr val="dk1"/>
              </a:solidFill>
              <a:effectLst>
                <a:glow rad="139700">
                  <a:schemeClr val="accent4">
                    <a:lumMod val="60000"/>
                    <a:lumOff val="40000"/>
                    <a:alpha val="40000"/>
                  </a:schemeClr>
                </a:glow>
              </a:effectLst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r>
              <a:rPr lang="en-US" sz="2400" b="1" dirty="0">
                <a:solidFill>
                  <a:schemeClr val="dk1"/>
                </a:solidFill>
                <a:effectLst>
                  <a:glow rad="139700">
                    <a:schemeClr val="accent4">
                      <a:lumMod val="60000"/>
                      <a:lumOff val="40000"/>
                      <a:alpha val="40000"/>
                    </a:schemeClr>
                  </a:glow>
                </a:effectLst>
                <a:latin typeface="Segoe UI Emoji" panose="020B0502040204020203" pitchFamily="34" charset="0"/>
                <a:ea typeface="Segoe UI Emoji" panose="020B0502040204020203" pitchFamily="34" charset="0"/>
              </a:rPr>
              <a:t>Using – MS Excel &amp; Power BI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AF955-00D7-E600-A5C4-21009C6E6284}"/>
              </a:ext>
            </a:extLst>
          </p:cNvPr>
          <p:cNvSpPr txBox="1"/>
          <p:nvPr/>
        </p:nvSpPr>
        <p:spPr>
          <a:xfrm>
            <a:off x="8418442" y="6112566"/>
            <a:ext cx="3888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dk1"/>
                </a:solidFill>
                <a:effectLst>
                  <a:glow rad="139700">
                    <a:schemeClr val="accent4">
                      <a:lumMod val="60000"/>
                      <a:lumOff val="40000"/>
                      <a:alpha val="40000"/>
                    </a:schemeClr>
                  </a:glow>
                </a:effectLst>
                <a:latin typeface="Segoe UI Emoji" panose="020B0502040204020203" pitchFamily="34" charset="0"/>
                <a:ea typeface="Segoe UI Emoji" panose="020B0502040204020203" pitchFamily="34" charset="0"/>
              </a:rPr>
              <a:t>REKAA SELVARAJ</a:t>
            </a:r>
          </a:p>
          <a:p>
            <a:pPr algn="ctr"/>
            <a:r>
              <a:rPr lang="en-US" b="1" dirty="0">
                <a:solidFill>
                  <a:schemeClr val="dk1"/>
                </a:solidFill>
                <a:effectLst>
                  <a:glow rad="139700">
                    <a:schemeClr val="accent4">
                      <a:lumMod val="60000"/>
                      <a:lumOff val="40000"/>
                      <a:alpha val="40000"/>
                    </a:schemeClr>
                  </a:glow>
                </a:effectLst>
                <a:latin typeface="Segoe UI Emoji" panose="020B0502040204020203" pitchFamily="34" charset="0"/>
                <a:ea typeface="Segoe UI Emoji" panose="020B0502040204020203" pitchFamily="34" charset="0"/>
              </a:rPr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386702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BF74-728F-E448-FBC0-720807EB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243" y="0"/>
            <a:ext cx="10250556" cy="93427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Mexico Toy Sales 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D463-C318-F00F-4A11-3821E45F04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7018" y="864704"/>
            <a:ext cx="11181522" cy="590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Project Overview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This project analyzes Maven Toys sales and inventory data by integrating multiple sources into a structured data model.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It evaluates sales trends, demand patterns, inventory efficiency, and profitability to deliver insights for better decision-making.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Objectives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Analyze sales trends and growth over time.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Understand product demand and its impact on inventory.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Identify gaps between sales and available stock.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Evaluate store performance and identify top and underperforming stores.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Improve inventory usage and track stock movement.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Analyze profitability based on cost, price, and sales.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Identify patterns that influence sales and performance.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7138D8-9A6C-4421-9778-3F37D3496DD0}"/>
              </a:ext>
            </a:extLst>
          </p:cNvPr>
          <p:cNvSpPr txBox="1"/>
          <p:nvPr/>
        </p:nvSpPr>
        <p:spPr>
          <a:xfrm rot="10800000" flipV="1">
            <a:off x="506895" y="392976"/>
            <a:ext cx="423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en-IN" sz="2000" b="1" kern="0" dirty="0">
                <a:solidFill>
                  <a:srgbClr val="1F3864"/>
                </a:solidFill>
              </a:rPr>
              <a:t> 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Sources</a:t>
            </a:r>
            <a:r>
              <a:rPr lang="en-IN" sz="2000" b="1" kern="0" dirty="0">
                <a:solidFill>
                  <a:srgbClr val="1F3864"/>
                </a:solidFill>
                <a:effectLst/>
                <a:ea typeface="Times New Roman" panose="02020603050405020304" pitchFamily="18" charset="0"/>
              </a:rPr>
              <a:t>  </a:t>
            </a:r>
            <a:r>
              <a:rPr lang="en-IN" sz="2000" kern="0" dirty="0">
                <a:solidFill>
                  <a:srgbClr val="1F3864"/>
                </a:solidFill>
                <a:effectLst/>
                <a:ea typeface="Times New Roman" panose="02020603050405020304" pitchFamily="18" charset="0"/>
              </a:rPr>
              <a:t> 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839DBF-3FAE-0815-07AA-5C2265B3E9C1}"/>
              </a:ext>
            </a:extLst>
          </p:cNvPr>
          <p:cNvSpPr txBox="1"/>
          <p:nvPr/>
        </p:nvSpPr>
        <p:spPr>
          <a:xfrm>
            <a:off x="506895" y="2366700"/>
            <a:ext cx="11191462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Problem Statement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Maven Toys lacks a centralized analytics system to effectively track sales, product demand, store performance, and inventory across its operations.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This limitation makes it difficult to gain clear insights into business performance and identify key trends and issues.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This project addresses these challenges by building a structured data model that integrates and organizes the data for efficient analysis.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It also provides interactive dashboards to deliver meaningful insights and support better data-driven decision-making.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61BC4-9B4F-F0F2-9B92-BC7CDBE1EAB2}"/>
              </a:ext>
            </a:extLst>
          </p:cNvPr>
          <p:cNvSpPr txBox="1"/>
          <p:nvPr/>
        </p:nvSpPr>
        <p:spPr>
          <a:xfrm>
            <a:off x="506895" y="793087"/>
            <a:ext cx="118424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kern="0" dirty="0">
                <a:solidFill>
                  <a:srgbClr val="1F3864"/>
                </a:solidFill>
                <a:effectLst/>
                <a:ea typeface="Times New Roman" panose="02020603050405020304" pitchFamily="18" charset="0"/>
              </a:rPr>
              <a:t>Source Description - </a:t>
            </a:r>
            <a:r>
              <a:rPr lang="en-US" sz="2000" dirty="0">
                <a:hlinkClick r:id="rId3"/>
              </a:rPr>
              <a:t>https://mavenanalytics.io/data-playground/mexico-toy-sales</a:t>
            </a:r>
            <a:r>
              <a:rPr lang="en-US" sz="2000" dirty="0"/>
              <a:t>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kern="0" dirty="0">
                <a:solidFill>
                  <a:srgbClr val="1F3864"/>
                </a:solidFill>
              </a:rPr>
              <a:t>Timeline</a:t>
            </a:r>
            <a:r>
              <a:rPr lang="en-IN" b="1" kern="0" dirty="0">
                <a:solidFill>
                  <a:srgbClr val="1F3864"/>
                </a:solidFill>
                <a:ea typeface="Times New Roman" panose="02020603050405020304" pitchFamily="18" charset="0"/>
              </a:rPr>
              <a:t>  - </a:t>
            </a:r>
            <a:r>
              <a:rPr lang="en-US" dirty="0"/>
              <a:t>2022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kern="0" dirty="0">
                <a:solidFill>
                  <a:srgbClr val="1F3864"/>
                </a:solidFill>
              </a:rPr>
              <a:t>Domain </a:t>
            </a:r>
            <a:r>
              <a:rPr lang="en-IN" kern="0" dirty="0">
                <a:solidFill>
                  <a:srgbClr val="1F3864"/>
                </a:solidFill>
              </a:rPr>
              <a:t>   - </a:t>
            </a:r>
            <a:r>
              <a:rPr lang="en-IN" dirty="0"/>
              <a:t>Retail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988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0365-AE1E-B473-8CB9-9916F4ECA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48" y="-524620"/>
            <a:ext cx="11269639" cy="1558290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Attribute (Column /Features) Details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A31A4D2C-1344-E748-8E9F-679EED5565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416036"/>
              </p:ext>
            </p:extLst>
          </p:nvPr>
        </p:nvGraphicFramePr>
        <p:xfrm>
          <a:off x="231913" y="536714"/>
          <a:ext cx="11728174" cy="618817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2570">
                  <a:extLst>
                    <a:ext uri="{9D8B030D-6E8A-4147-A177-3AD203B41FA5}">
                      <a16:colId xmlns:a16="http://schemas.microsoft.com/office/drawing/2014/main" val="664958814"/>
                    </a:ext>
                  </a:extLst>
                </a:gridCol>
                <a:gridCol w="4177191">
                  <a:extLst>
                    <a:ext uri="{9D8B030D-6E8A-4147-A177-3AD203B41FA5}">
                      <a16:colId xmlns:a16="http://schemas.microsoft.com/office/drawing/2014/main" val="2260071216"/>
                    </a:ext>
                  </a:extLst>
                </a:gridCol>
                <a:gridCol w="5468413">
                  <a:extLst>
                    <a:ext uri="{9D8B030D-6E8A-4147-A177-3AD203B41FA5}">
                      <a16:colId xmlns:a16="http://schemas.microsoft.com/office/drawing/2014/main" val="1839574568"/>
                    </a:ext>
                  </a:extLst>
                </a:gridCol>
              </a:tblGrid>
              <a:tr h="28827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Attribute</a:t>
                      </a:r>
                    </a:p>
                  </a:txBody>
                  <a:tcPr marL="5213" marR="5213" marT="3476" marB="3476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</a:p>
                  </a:txBody>
                  <a:tcPr marL="5213" marR="5213" marT="3476" marB="3476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Business Meaning</a:t>
                      </a:r>
                    </a:p>
                  </a:txBody>
                  <a:tcPr marL="5213" marR="5213" marT="3476" marB="3476" anchor="b"/>
                </a:tc>
                <a:extLst>
                  <a:ext uri="{0D108BD9-81ED-4DB2-BD59-A6C34878D82A}">
                    <a16:rowId xmlns:a16="http://schemas.microsoft.com/office/drawing/2014/main" val="3515282530"/>
                  </a:ext>
                </a:extLst>
              </a:tr>
              <a:tr h="41141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 err="1">
                          <a:effectLst/>
                        </a:rPr>
                        <a:t>Sale_ID</a:t>
                      </a:r>
                      <a:endParaRPr lang="en-US" sz="1800" dirty="0">
                        <a:effectLst/>
                      </a:endParaRP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Unique identifier for each sales transaction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Used to track and differentiate every individual sale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3311504344"/>
                  </a:ext>
                </a:extLst>
              </a:tr>
              <a:tr h="41399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Date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Date on which the sale occurred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Helps analyze sales trends over time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1435866715"/>
                  </a:ext>
                </a:extLst>
              </a:tr>
              <a:tr h="56943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 err="1">
                          <a:effectLst/>
                        </a:rPr>
                        <a:t>Store_ID</a:t>
                      </a:r>
                      <a:endParaRPr lang="en-US" sz="1800" dirty="0">
                        <a:effectLst/>
                      </a:endParaRP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Unique identifier for each store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Used to evaluate store-level performance and link inventory/sales to specific locations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1882939944"/>
                  </a:ext>
                </a:extLst>
              </a:tr>
              <a:tr h="3976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Store_Name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Name of the store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Helps in reporting and comparing store performance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983597717"/>
                  </a:ext>
                </a:extLst>
              </a:tr>
              <a:tr h="40018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Store_City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Location of the store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Enables regional and city-wise analysis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1592150359"/>
                  </a:ext>
                </a:extLst>
              </a:tr>
              <a:tr h="4171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Store_Open_Date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Date when the store was opened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Helps analyze store growth and maturity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2522794705"/>
                  </a:ext>
                </a:extLst>
              </a:tr>
              <a:tr h="56943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Product_ID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Unique identifier for each product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Used to uniquely identify and link products across sales, inventory, and product tables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96809222"/>
                  </a:ext>
                </a:extLst>
              </a:tr>
              <a:tr h="50818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Product_Name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Name of the product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Helps in identifying and reporting product-level performance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1222364371"/>
                  </a:ext>
                </a:extLst>
              </a:tr>
              <a:tr h="35475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Product_Category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Category of the product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Used to analyze category-wise sales and trends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426830922"/>
                  </a:ext>
                </a:extLst>
              </a:tr>
              <a:tr h="28827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Product_Cost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Cost price of the product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Helps calculate total cost and profit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1233633425"/>
                  </a:ext>
                </a:extLst>
              </a:tr>
              <a:tr h="5073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Product_Price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Selling price of the product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Determines revenue generated per unit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3265910078"/>
                  </a:ext>
                </a:extLst>
              </a:tr>
              <a:tr h="5073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>
                          <a:effectLst/>
                        </a:rPr>
                        <a:t>Units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Number of units sold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Indicates demand and sales volume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3600260945"/>
                  </a:ext>
                </a:extLst>
              </a:tr>
              <a:tr h="5073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 err="1">
                          <a:effectLst/>
                        </a:rPr>
                        <a:t>Stock_On_Hand</a:t>
                      </a:r>
                      <a:endParaRPr lang="en-US" sz="1800" dirty="0">
                        <a:effectLst/>
                      </a:endParaRP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Available quantity of stock</a:t>
                      </a:r>
                    </a:p>
                  </a:txBody>
                  <a:tcPr marL="5213" marR="5213" marT="3476" marB="3476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Indicates current inventory level for sales planning</a:t>
                      </a:r>
                    </a:p>
                  </a:txBody>
                  <a:tcPr marL="5213" marR="5213" marT="3476" marB="3476" anchor="ctr"/>
                </a:tc>
                <a:extLst>
                  <a:ext uri="{0D108BD9-81ED-4DB2-BD59-A6C34878D82A}">
                    <a16:rowId xmlns:a16="http://schemas.microsoft.com/office/drawing/2014/main" val="3189500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58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9CFFF0-D22F-204A-CABA-A80CA06635A1}"/>
              </a:ext>
            </a:extLst>
          </p:cNvPr>
          <p:cNvSpPr txBox="1"/>
          <p:nvPr/>
        </p:nvSpPr>
        <p:spPr>
          <a:xfrm>
            <a:off x="838986" y="207390"/>
            <a:ext cx="1122711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Tools &amp; Technologies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kern="0" dirty="0">
                <a:solidFill>
                  <a:srgbClr val="1F3864"/>
                </a:solidFill>
              </a:rPr>
              <a:t>Excel</a:t>
            </a:r>
            <a:r>
              <a:rPr lang="en-US" b="1" dirty="0"/>
              <a:t>:</a:t>
            </a:r>
            <a:r>
              <a:rPr lang="en-US" dirty="0"/>
              <a:t> Data cleaning, transformation, data validation and calculations.</a:t>
            </a:r>
          </a:p>
          <a:p>
            <a:br>
              <a:rPr lang="en-US" dirty="0"/>
            </a:br>
            <a:r>
              <a:rPr lang="en-US" kern="0" dirty="0">
                <a:solidFill>
                  <a:srgbClr val="1F3864"/>
                </a:solidFill>
              </a:rPr>
              <a:t>Power BI: </a:t>
            </a:r>
            <a:r>
              <a:rPr lang="en-US" dirty="0"/>
              <a:t>Data modelling, DAX calculations, data integration, advanced visualization, and interactive dashboard development.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Data Transformation Steps (Excel /Power Query)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Removed duplicate records to ensure data accuracy and consistency.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Renamed headers to meaningful and standardized names.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Removed unnecessary spaces and special characters (e.g., underscores) for better readability.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Corrected data types (Date, Decimal, Whole Number) for proper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Cleaned and formatted numeric fields (currency values converted to numbers).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Created a new Profit column based on Product cost and Product price.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Calculated Profit</a:t>
            </a:r>
            <a:r>
              <a:rPr lang="en-US" b="1" dirty="0"/>
              <a:t> </a:t>
            </a:r>
            <a:r>
              <a:rPr lang="en-US" dirty="0"/>
              <a:t>Margin and formatted it as a percentage.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Ensured no null or error values in critical columns.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Validated data integrity across all tables before modeling.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Data Model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US" dirty="0"/>
              <a:t>Created a star schema data model with Sales as the fact table and Products, Stores, and Inventory as dimension tables, establishing one-to-many (1:*) relationships with single-direction filtering.</a:t>
            </a:r>
          </a:p>
        </p:txBody>
      </p:sp>
    </p:spTree>
    <p:extLst>
      <p:ext uri="{BB962C8B-B14F-4D97-AF65-F5344CB8AC3E}">
        <p14:creationId xmlns:p14="http://schemas.microsoft.com/office/powerpoint/2010/main" val="338692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26C44F-335F-29C8-3CA1-74F5C103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27" y="497100"/>
            <a:ext cx="10634221" cy="627311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Modelling Screenshot</a:t>
            </a:r>
            <a:b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CF164D-EE71-D3B9-8E38-72D9C7161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85" y="890326"/>
            <a:ext cx="10023304" cy="582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68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2040E31-04D5-8C60-E099-81653209E2FF}"/>
              </a:ext>
            </a:extLst>
          </p:cNvPr>
          <p:cNvSpPr txBox="1"/>
          <p:nvPr/>
        </p:nvSpPr>
        <p:spPr>
          <a:xfrm>
            <a:off x="417443" y="308113"/>
            <a:ext cx="107143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Calculated Columns</a:t>
            </a:r>
          </a:p>
          <a:p>
            <a:endParaRPr lang="en-IN" b="1" kern="0" dirty="0">
              <a:solidFill>
                <a:srgbClr val="1F3864"/>
              </a:solidFill>
              <a:latin typeface="Times New Roman" panose="02020603050405020304" pitchFamily="18" charset="0"/>
            </a:endParaRPr>
          </a:p>
          <a:p>
            <a:r>
              <a:rPr lang="en-US" dirty="0"/>
              <a:t>Created calculated columns for Profit and Profit Margin to evaluate business profitability and efficiency.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CFFFC8-377B-446E-BD6C-1C6FFB43A812}"/>
              </a:ext>
            </a:extLst>
          </p:cNvPr>
          <p:cNvSpPr txBox="1"/>
          <p:nvPr/>
        </p:nvSpPr>
        <p:spPr>
          <a:xfrm>
            <a:off x="417443" y="1709530"/>
            <a:ext cx="92930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kern="0" dirty="0">
                <a:solidFill>
                  <a:srgbClr val="1F386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DAX Measures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Sales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Units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Profit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Profit Margin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MoM Growth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Stock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Growth Percentage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Sales Title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Store Title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Created a dynamic Calendar Table for performing time intelligence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520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28D967-E036-D6E6-0C3E-6C32787E6FB4}"/>
              </a:ext>
            </a:extLst>
          </p:cNvPr>
          <p:cNvSpPr txBox="1"/>
          <p:nvPr/>
        </p:nvSpPr>
        <p:spPr>
          <a:xfrm>
            <a:off x="815010" y="457200"/>
            <a:ext cx="1071438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KPI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Cards</a:t>
            </a:r>
            <a:r>
              <a:rPr lang="en-US" b="1" dirty="0"/>
              <a:t>:</a:t>
            </a:r>
            <a:r>
              <a:rPr lang="en-US" dirty="0"/>
              <a:t> Used to present key business metrics such as Total Sales, Total Profit, Profit Margin, Units Sold, and MOM Growth for quick insights.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Bar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Charts</a:t>
            </a:r>
            <a:r>
              <a:rPr lang="en-US" b="1" dirty="0"/>
              <a:t>:</a:t>
            </a:r>
            <a:r>
              <a:rPr lang="en-US" dirty="0"/>
              <a:t> Compared performance across different dimensions like cities, product categories, and stores.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Line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Charts</a:t>
            </a:r>
            <a:r>
              <a:rPr lang="en-US" b="1" dirty="0"/>
              <a:t>:</a:t>
            </a:r>
            <a:r>
              <a:rPr lang="en-US" dirty="0"/>
              <a:t> Analyzed trends over time, including sales growth, profit, and unit sales.</a:t>
            </a:r>
            <a:br>
              <a:rPr lang="en-US" dirty="0"/>
            </a:br>
            <a:endParaRPr lang="en-US" kern="0" dirty="0">
              <a:solidFill>
                <a:srgbClr val="1F3864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Pie</a:t>
            </a:r>
            <a:r>
              <a:rPr lang="en-US" b="1" kern="0" dirty="0">
                <a:solidFill>
                  <a:srgbClr val="1F3864"/>
                </a:solidFill>
              </a:rPr>
              <a:t> </a:t>
            </a:r>
            <a:r>
              <a:rPr lang="en-US" kern="0" dirty="0">
                <a:solidFill>
                  <a:srgbClr val="1F3864"/>
                </a:solidFill>
              </a:rPr>
              <a:t>Charts</a:t>
            </a:r>
            <a:r>
              <a:rPr lang="en-US" b="1" dirty="0"/>
              <a:t>:</a:t>
            </a:r>
            <a:r>
              <a:rPr lang="en-US" dirty="0"/>
              <a:t> Visualized proportional distribution such as sales distribution and profit contribution.</a:t>
            </a:r>
          </a:p>
          <a:p>
            <a:endParaRPr lang="en-US" kern="0" dirty="0">
              <a:solidFill>
                <a:srgbClr val="1F386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 Donut</a:t>
            </a:r>
            <a:r>
              <a:rPr lang="en-US" b="1" kern="0" dirty="0">
                <a:solidFill>
                  <a:srgbClr val="1F3864"/>
                </a:solidFill>
              </a:rPr>
              <a:t> </a:t>
            </a:r>
            <a:r>
              <a:rPr lang="en-US" kern="0" dirty="0">
                <a:solidFill>
                  <a:srgbClr val="1F3864"/>
                </a:solidFill>
              </a:rPr>
              <a:t>Charts</a:t>
            </a:r>
            <a:r>
              <a:rPr lang="en-US" b="1" dirty="0"/>
              <a:t>:</a:t>
            </a:r>
            <a:r>
              <a:rPr lang="en-US" dirty="0"/>
              <a:t> Visualized sales distribution across store locations.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Column/Stacked Column Chart:</a:t>
            </a:r>
            <a:r>
              <a:rPr lang="en-US" dirty="0"/>
              <a:t> Shows month-wise total unit calculation and stacked column chart compares month-wise sales performance.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Tree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Map</a:t>
            </a:r>
            <a:r>
              <a:rPr lang="en-US" b="1" dirty="0"/>
              <a:t>:</a:t>
            </a:r>
            <a:r>
              <a:rPr lang="en-US" dirty="0"/>
              <a:t> Visualized stock distribution by product, showing each product’s contribution to total stock levels.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Ribbon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Chart</a:t>
            </a:r>
            <a:r>
              <a:rPr lang="en-US" b="1" dirty="0"/>
              <a:t>:</a:t>
            </a:r>
            <a:r>
              <a:rPr lang="en-US" dirty="0"/>
              <a:t> Analyzed stock level performance across product names and compare ranking changes.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Map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Chart</a:t>
            </a:r>
            <a:r>
              <a:rPr lang="en-US" b="1" dirty="0"/>
              <a:t>:</a:t>
            </a:r>
            <a:r>
              <a:rPr lang="en-US" dirty="0"/>
              <a:t> Compared sales by store location to analyze geographical distribution of sales performance.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kern="0" dirty="0">
              <a:solidFill>
                <a:srgbClr val="1F386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3C30BB-B64A-ED20-05A2-C3B29B9AA43B}"/>
              </a:ext>
            </a:extLst>
          </p:cNvPr>
          <p:cNvSpPr txBox="1"/>
          <p:nvPr/>
        </p:nvSpPr>
        <p:spPr>
          <a:xfrm>
            <a:off x="954157" y="218661"/>
            <a:ext cx="605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kern="0" dirty="0">
                <a:solidFill>
                  <a:srgbClr val="1F3864"/>
                </a:solidFill>
                <a:latin typeface="Times New Roman" panose="02020603050405020304" pitchFamily="18" charset="0"/>
              </a:rPr>
              <a:t>Analysis and Visualizations (Power BI)</a:t>
            </a:r>
            <a:endParaRPr lang="en-US" b="1" kern="0" dirty="0">
              <a:solidFill>
                <a:srgbClr val="1F3864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36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4E1B5-85F6-3D6A-B480-65B925E90E28}"/>
              </a:ext>
            </a:extLst>
          </p:cNvPr>
          <p:cNvSpPr txBox="1"/>
          <p:nvPr/>
        </p:nvSpPr>
        <p:spPr>
          <a:xfrm>
            <a:off x="715617" y="457200"/>
            <a:ext cx="1128091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Waterfall Chart: A</a:t>
            </a:r>
            <a:r>
              <a:rPr lang="en-US" dirty="0"/>
              <a:t>nalyzed profit contribution by product, showing how each product impacts overall profit</a:t>
            </a:r>
            <a:r>
              <a:rPr lang="en-US" kern="0" dirty="0">
                <a:solidFill>
                  <a:srgbClr val="1F3864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Slicers</a:t>
            </a:r>
            <a:r>
              <a:rPr lang="en-US" b="1" dirty="0"/>
              <a:t> :</a:t>
            </a:r>
            <a:r>
              <a:rPr lang="en-US" dirty="0"/>
              <a:t> Enabled interactive filtering by date.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Gauge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Chart</a:t>
            </a:r>
            <a:r>
              <a:rPr lang="en-US" b="1" dirty="0"/>
              <a:t>:</a:t>
            </a:r>
            <a:r>
              <a:rPr lang="en-US" dirty="0"/>
              <a:t> Created a comparison between actual sales and target sales using a manually set 10% target value.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Bookmark</a:t>
            </a:r>
            <a:r>
              <a:rPr lang="en-US" b="1" dirty="0"/>
              <a:t> </a:t>
            </a:r>
            <a:r>
              <a:rPr lang="en-US" kern="0" dirty="0">
                <a:solidFill>
                  <a:srgbClr val="1F3864"/>
                </a:solidFill>
              </a:rPr>
              <a:t>Creation</a:t>
            </a:r>
            <a:r>
              <a:rPr lang="en-US" b="1" dirty="0"/>
              <a:t> : </a:t>
            </a:r>
            <a:r>
              <a:rPr lang="en-US" dirty="0"/>
              <a:t>Created bookmarks to switch between All Products view and Top 5 Products view for dynamic analysis.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Buttons :</a:t>
            </a:r>
            <a:r>
              <a:rPr lang="en-US" dirty="0"/>
              <a:t>Created interactive buttons for All Products and Top 5 Products to enable easy navigation between different views.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Top N Filter Setup : </a:t>
            </a:r>
            <a:r>
              <a:rPr lang="en-US" dirty="0"/>
              <a:t>Applied Top N filtering logic to display only Top 5 performing products, while keeping an option to view all products.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0" dirty="0">
                <a:solidFill>
                  <a:srgbClr val="1F3864"/>
                </a:solidFill>
              </a:rPr>
              <a:t>Dynamic &amp; Dual Title Setup </a:t>
            </a:r>
            <a:r>
              <a:rPr lang="en-US" dirty="0"/>
              <a:t>: Created a DAX-based dynamic title and implemented dual titles using bookmarks to display either “All Products” or “Top 5 Products” based on user selection.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4CE48-05F7-B5CE-6D23-D9EC868A64BB}"/>
              </a:ext>
            </a:extLst>
          </p:cNvPr>
          <p:cNvSpPr txBox="1"/>
          <p:nvPr/>
        </p:nvSpPr>
        <p:spPr>
          <a:xfrm>
            <a:off x="795130" y="119270"/>
            <a:ext cx="8351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kern="0" dirty="0">
                <a:solidFill>
                  <a:srgbClr val="1F3864"/>
                </a:solidFill>
                <a:latin typeface="Times New Roman" panose="02020603050405020304" pitchFamily="18" charset="0"/>
              </a:rPr>
              <a:t>Analysis and Visualizations (Power BI) Cont.</a:t>
            </a:r>
            <a:endParaRPr lang="en-US" b="1" kern="0" dirty="0">
              <a:solidFill>
                <a:srgbClr val="1F3864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154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7F0D909-1E69-D322-9F9A-2DF338153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64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24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020D3-1A01-EEB9-D99B-A22DF9450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94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07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03EA68-E529-A5F9-0860-1EBCDEC0B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35"/>
            <a:ext cx="12192000" cy="681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82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11F63B-3CD5-B609-4A98-21EA7B087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8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A123-6F20-966C-21E7-C366744C3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3" y="119270"/>
            <a:ext cx="10624929" cy="65896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Insights </a:t>
            </a:r>
          </a:p>
          <a:p>
            <a:pPr marL="0" indent="0">
              <a:buNone/>
            </a:pPr>
            <a:endParaRPr lang="en-IN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kern="0" dirty="0">
                <a:solidFill>
                  <a:srgbClr val="1F3864"/>
                </a:solidFill>
              </a:rPr>
              <a:t>Descriptive Analytics </a:t>
            </a:r>
          </a:p>
          <a:p>
            <a:pPr marL="0" indent="0">
              <a:buNone/>
            </a:pPr>
            <a:endParaRPr lang="en-US" sz="2000" kern="0" dirty="0">
              <a:solidFill>
                <a:srgbClr val="1F3864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The business generated $7.48M in sales, 549K units sold, and $2.18M profit, indicating strong overall performance.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Lego Bricks $1.33M is the top-performing product, followed by Colorbuds, while Uno Card Game and Mr. Potato Head show the lowest sales.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Toys $2.78M and Electronics $1.44M dominate and contribute nearly 66% of total revenue. Ciudad de Mexico 2 $293K is the top-performing store, with other stores showing similar performance levels.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Sales peak in December $877K and drop in August $489K, showing clear seasonality. Inventory is uneven, with overstock in Deck Of Cards 2738 and understock in Jenga 181.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0" indent="0">
              <a:buNone/>
            </a:pPr>
            <a:r>
              <a:rPr lang="en-US" sz="2000" kern="0" dirty="0">
                <a:solidFill>
                  <a:srgbClr val="1F3864"/>
                </a:solidFill>
              </a:rPr>
              <a:t>Diagnostic Analytics</a:t>
            </a:r>
          </a:p>
          <a:p>
            <a:pPr marL="0" indent="0">
              <a:buNone/>
            </a:pPr>
            <a:endParaRPr lang="en-US" sz="2000" kern="0" dirty="0">
              <a:solidFill>
                <a:srgbClr val="1F3864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Strong demand drives Lego Bricks $1.33M and Colorbuds, while Uno Card Game and Mr. Potato Head show weak demand.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Sales dependency is high on Toys $2.78M and Electronics $1.44M.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A $748K gap with 90.9% achievement indicates planning inefficiencies.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December peaks at $877K due to seasonal demand, while August drops to $489K with -11.98% showing slowdown.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Sales grow from $542K to $877K with 32.65% recovery after a slight dip to $541K with -0.22%, while inventory imbalance between Deck Of Cards 2738 and Jenga 181 highlights poor planning.</a:t>
            </a:r>
          </a:p>
          <a:p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2193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379F792-6ABE-0795-88DA-6852511EA413}"/>
              </a:ext>
            </a:extLst>
          </p:cNvPr>
          <p:cNvSpPr txBox="1"/>
          <p:nvPr/>
        </p:nvSpPr>
        <p:spPr>
          <a:xfrm>
            <a:off x="735496" y="863469"/>
            <a:ext cx="92334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Sales will likely rise in Q4, reaching around $0.88M.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Lego Bricks at $1.33M and Colorbuds will continue to lead sales.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Low-performing products are expected to remain weak.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Total sales may exceed $7.48M and approach $8.23M.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August-like dips around $0.49M may repeat.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13.28% MoM growth indicates continued expansion.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Inventory issues may cause stockouts for Jenga 181 and overstock for Deck Of Cards 2738.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C5A66-CA0A-79BC-A71F-288A3E5F4D08}"/>
              </a:ext>
            </a:extLst>
          </p:cNvPr>
          <p:cNvSpPr txBox="1"/>
          <p:nvPr/>
        </p:nvSpPr>
        <p:spPr>
          <a:xfrm>
            <a:off x="735496" y="129209"/>
            <a:ext cx="7456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kern="0" dirty="0">
                <a:solidFill>
                  <a:srgbClr val="1F3864"/>
                </a:solidFill>
              </a:rPr>
              <a:t>Predictive Analytics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F44772-553E-11E1-B8B7-1062B2CAA17B}"/>
              </a:ext>
            </a:extLst>
          </p:cNvPr>
          <p:cNvSpPr txBox="1"/>
          <p:nvPr/>
        </p:nvSpPr>
        <p:spPr>
          <a:xfrm>
            <a:off x="735496" y="3228945"/>
            <a:ext cx="63635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en-US" sz="2000" kern="0" dirty="0">
                <a:solidFill>
                  <a:srgbClr val="1F3864"/>
                </a:solidFill>
              </a:rPr>
              <a:t>Prescriptive Analytics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BA68DE-F113-9BDF-A37A-F1B63E773D0E}"/>
              </a:ext>
            </a:extLst>
          </p:cNvPr>
          <p:cNvSpPr txBox="1"/>
          <p:nvPr/>
        </p:nvSpPr>
        <p:spPr>
          <a:xfrm>
            <a:off x="735496" y="3843997"/>
            <a:ext cx="112212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Focus on Lego Bricks $1.33M and Colorbuds with better stocking and promotion, while improving Uno Card Game and Mr. Potato Head through discounts or bundling.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 reliance on Toys $2.78M and Electronics $1.44M to diversify revenue.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Close the $0.75M gap to achieve the $8.23M target.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Run campaigns to avoid sales drops around $0.49M and sustain growth from $0.54M to $0.88M.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Balance inventory by reducing Deck Of Cards 2738 and increasing Jenga 181 and Classic Dominoes 241</a:t>
            </a:r>
          </a:p>
        </p:txBody>
      </p:sp>
    </p:spTree>
    <p:extLst>
      <p:ext uri="{BB962C8B-B14F-4D97-AF65-F5344CB8AC3E}">
        <p14:creationId xmlns:p14="http://schemas.microsoft.com/office/powerpoint/2010/main" val="1238843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0F517-3868-12FB-4A4B-502EB9B8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kern="0" dirty="0">
                <a:solidFill>
                  <a:srgbClr val="1F3864"/>
                </a:solidFill>
                <a:latin typeface="Times New Roman" panose="02020603050405020304" pitchFamily="18" charset="0"/>
                <a:cs typeface="+mn-c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CDF13-4897-9A2A-6FB4-9BB8D2BAF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The business shows strong overall performance, achieving $7.48M sales, 549K units sold, and $2.18M profit, with steady growth momentum (13.28% MOM growth).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Sales performance is slightly below target, reaching 90.9% of the $8.23M goal, indicating a small but important revenue gap of $748K that needs improvement.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Product performance is uneven, where Lego Bricks leads significantly ($1.33M) while some products like Uno Card Game and Mr. Potato Head underperform, suggesting the need for product optimization.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Category analysis shows high dependency on Toys and Electronics, which together contribute nearly two-thirds of total revenue, highlighting limited diversification.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Store-level performance is fairly balanced, with Ciudad de Mexico 2 as the top-performing store ($293K), showing no extreme gaps but slight leadership from specific locations.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Sales trends indicate strong seasonality, with a peak in December ($877K) and a dip in August ($489K), showing clear Q4-driven demand patterns.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Overall, the business is growing steadily but depends heavily on a few key products, categories, and seasonal peaks, which creates both strength and risk.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004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9762</TotalTime>
  <Words>1611</Words>
  <Application>Microsoft Office PowerPoint</Application>
  <PresentationFormat>Widescreen</PresentationFormat>
  <Paragraphs>185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Segoe UI Emoji</vt:lpstr>
      <vt:lpstr>Times New Roman</vt:lpstr>
      <vt:lpstr>Verdana</vt:lpstr>
      <vt:lpstr>Wingdings</vt:lpstr>
      <vt:lpstr>Office Theme</vt:lpstr>
      <vt:lpstr>PowerPoint Presentation</vt:lpstr>
      <vt:lpstr>Mexico Toy Sales Dataset</vt:lpstr>
      <vt:lpstr>PowerPoint Presentation</vt:lpstr>
      <vt:lpstr>Attribute (Column /Features) Details</vt:lpstr>
      <vt:lpstr>PowerPoint Presentation</vt:lpstr>
      <vt:lpstr>Data Modelling Screenshot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selvarajrekaa@gmail.com</dc:creator>
  <cp:lastModifiedBy>selvarajrekaa@gmail.com</cp:lastModifiedBy>
  <cp:revision>20</cp:revision>
  <dcterms:created xsi:type="dcterms:W3CDTF">2026-04-01T07:29:13Z</dcterms:created>
  <dcterms:modified xsi:type="dcterms:W3CDTF">2026-04-12T07:12:03Z</dcterms:modified>
</cp:coreProperties>
</file>